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Bibliotēkas Grāmatu Pārvaldības Sistēma - 1. Daļa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Datu Struktūru Analīze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A) Grāmatu katalogs</a:t>
            </a:r>
          </a:p>
          <a:p>
            <a:pPr lvl="0" indent="0" marL="0">
              <a:buNone/>
            </a:pPr>
            <a:r>
              <a:rPr b="1"/>
              <a:t>Izvēlētā datu struktūra:</a:t>
            </a:r>
            <a:r>
              <a:rPr/>
              <a:t> Masīvs (Array)</a:t>
            </a:r>
          </a:p>
          <a:p>
            <a:pPr lvl="0" indent="0" marL="0">
              <a:buNone/>
            </a:pPr>
            <a:r>
              <a:rPr b="1"/>
              <a:t>Pamatojums:</a:t>
            </a:r>
            <a:r>
              <a:rPr/>
              <a:t> - </a:t>
            </a:r>
            <a:r>
              <a:rPr b="1"/>
              <a:t>Laika sarežģītība:</a:t>
            </a:r>
            <a:r>
              <a:rPr/>
              <a:t> O(1) - tiešā piekļuve pēc indeksa (ID) - </a:t>
            </a:r>
            <a:r>
              <a:rPr b="1"/>
              <a:t>Fiksēts izmērs:</a:t>
            </a:r>
            <a:r>
              <a:rPr/>
              <a:t> Grāmatu skaits nemainās (5000), tāpēc masīva fiksētais izmērs nav trūkums - </a:t>
            </a:r>
            <a:r>
              <a:rPr b="1"/>
              <a:t>Efektīva atmiņas izmantošana:</a:t>
            </a:r>
            <a:r>
              <a:rPr/>
              <a:t> Grāmatas ar ID 1-5000 var tikt glabātas masīvā, kur indekss = ID - </a:t>
            </a:r>
            <a:r>
              <a:rPr b="1"/>
              <a:t>Ātra meklēšana:</a:t>
            </a:r>
            <a:r>
              <a:rPr/>
              <a:t> book = catalog[bookId] nodrošina momentānu piekļuvi</a:t>
            </a:r>
          </a:p>
          <a:p>
            <a:pPr lvl="0" indent="0" marL="0">
              <a:buNone/>
            </a:pPr>
            <a:r>
              <a:rPr b="1"/>
              <a:t>Alternatīvie risinājumi:</a:t>
            </a:r>
            <a:r>
              <a:rPr/>
              <a:t> - </a:t>
            </a:r>
            <a:r>
              <a:rPr b="1"/>
              <a:t>Saistītais saraksts:</a:t>
            </a:r>
            <a:r>
              <a:rPr/>
              <a:t> Būtu neefektīvs - O(n) laika sarežģītība meklēšanai. Nepieciešams pārlūkot visu sarakstu, lai atrastu grāmatu pēc ID - </a:t>
            </a:r>
            <a:r>
              <a:rPr b="1"/>
              <a:t>Jaucējtabula (Hash Table):</a:t>
            </a:r>
            <a:r>
              <a:rPr/>
              <a:t> Varētu izmantot, bet nav nepieciešama, jo ID ir secīgi skaitļi - masīvs ir vienkāršāks un tikpat ātrs</a:t>
            </a:r>
          </a:p>
          <a:p>
            <a:pPr lvl="0" indent="0" marL="0">
              <a:buNone/>
            </a:pPr>
            <a:r>
              <a:rPr b="1"/>
              <a:t>Ja grāmatu skaits mainītos:</a:t>
            </a:r>
            <a:r>
              <a:rPr/>
              <a:t> - Masīvs vairs nebūtu optimāls, jo tā izmēra maiņa ir dārga operācija - </a:t>
            </a:r>
            <a:r>
              <a:rPr b="1"/>
              <a:t>Labāka izvēle:</a:t>
            </a:r>
            <a:r>
              <a:rPr/>
              <a:t> Jaucējtabula (HashMap/Dictionary) - O(1) piekļuve, dinamisks izmērs - </a:t>
            </a:r>
            <a:r>
              <a:rPr b="1"/>
              <a:t>Alternatīva:</a:t>
            </a:r>
            <a:r>
              <a:rPr/>
              <a:t> Saistītais saraksts ar jaucējtabulu indeksēšanai - </a:t>
            </a:r>
            <a:r>
              <a:rPr b="1"/>
              <a:t>Praktiskā izvēle:</a:t>
            </a:r>
            <a:r>
              <a:rPr/>
              <a:t> Datubāze ar indeksiem uz ID lauku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B) Rezervāciju saraksts populārai grāmatai</a:t>
            </a:r>
          </a:p>
          <a:p>
            <a:pPr lvl="0" indent="0" marL="0">
              <a:buNone/>
            </a:pPr>
            <a:r>
              <a:rPr b="1"/>
              <a:t>Izvēlētā datu struktūra:</a:t>
            </a:r>
            <a:r>
              <a:rPr/>
              <a:t> Rinda (Queue - FIFO)</a:t>
            </a:r>
          </a:p>
          <a:p>
            <a:pPr lvl="0" indent="0" marL="0">
              <a:buNone/>
            </a:pPr>
            <a:r>
              <a:rPr b="1"/>
              <a:t>Pamatojums:</a:t>
            </a:r>
            <a:r>
              <a:rPr/>
              <a:t> - </a:t>
            </a:r>
            <a:r>
              <a:rPr b="1"/>
              <a:t>FIFO princips:</a:t>
            </a:r>
            <a:r>
              <a:rPr/>
              <a:t> “First In, First Out” - pirmais rindā, pirmais saņem grāmatu - </a:t>
            </a:r>
            <a:r>
              <a:rPr b="1"/>
              <a:t>Godīgums:</a:t>
            </a:r>
            <a:r>
              <a:rPr/>
              <a:t> Nodrošina taisnīgu kārtību - kas pirms piesakās, tas pirms saņem - </a:t>
            </a:r>
            <a:r>
              <a:rPr b="1"/>
              <a:t>Efektīvas operācijas:</a:t>
            </a:r>
            <a:r>
              <a:rPr/>
              <a:t> - Pievienošana (enqueue): O(1) - jauns lietotājs gala - Izņemšana (dequeue): O(1) - pirmais rindā saņem grāmatu - </a:t>
            </a:r>
            <a:r>
              <a:rPr b="1"/>
              <a:t>Bibliotēkas specifika:</a:t>
            </a:r>
            <a:r>
              <a:rPr/>
              <a:t> Atbilst bibliotēku ētikai un lietotāju cerībām</a:t>
            </a:r>
          </a:p>
          <a:p>
            <a:pPr lvl="0" indent="0" marL="0">
              <a:buNone/>
            </a:pPr>
            <a:r>
              <a:rPr b="1"/>
              <a:t>Alternatīvie risinājumi:</a:t>
            </a:r>
            <a:r>
              <a:rPr/>
              <a:t> - </a:t>
            </a:r>
            <a:r>
              <a:rPr b="1"/>
              <a:t>Steks (LIFO):</a:t>
            </a:r>
            <a:r>
              <a:rPr/>
              <a:t> Pilnīgi nepiemērots - pēdējais piesakās, pirmais saņem. Nav godīgi - </a:t>
            </a:r>
            <a:r>
              <a:rPr b="1"/>
              <a:t>Saistītais saraksts:</a:t>
            </a:r>
            <a:r>
              <a:rPr/>
              <a:t> Varētu darboties, bet bez skaidras FIFO semantikas. Nepieciešama papildus loģika, lai nodrošinātu pareizo kārtību - </a:t>
            </a:r>
            <a:r>
              <a:rPr b="1"/>
              <a:t>Masīvs:</a:t>
            </a:r>
            <a:r>
              <a:rPr/>
              <a:t> Neefektīvs - izņemot pirmo elementu, jāpārvieto visi atlikušie elementi. O(n) sarežģītība</a:t>
            </a:r>
          </a:p>
          <a:p>
            <a:pPr lvl="0" indent="0" marL="0">
              <a:buNone/>
            </a:pPr>
            <a:r>
              <a:rPr b="1"/>
              <a:t>Praktiskais pielietojums:</a:t>
            </a:r>
            <a:r>
              <a:rPr/>
              <a:t> Rinda skaidri komunikē nodomu un nodrošina pareizo uzvedību bez papildus loģikas.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C) Izsniegto grāmatu vēsture</a:t>
            </a:r>
          </a:p>
          <a:p>
            <a:pPr lvl="0" indent="0" marL="0">
              <a:buNone/>
            </a:pPr>
            <a:r>
              <a:rPr b="1"/>
              <a:t>Izvēlētā datu struktūra:</a:t>
            </a:r>
            <a:r>
              <a:rPr/>
              <a:t> Cikliskais buferis (Circular Buffer) vai Ierobežots steks</a:t>
            </a:r>
          </a:p>
          <a:p>
            <a:pPr lvl="0" indent="0" marL="0">
              <a:buNone/>
            </a:pPr>
            <a:r>
              <a:rPr b="1"/>
              <a:t>Pamatojums:</a:t>
            </a:r>
            <a:r>
              <a:rPr/>
              <a:t> - </a:t>
            </a:r>
            <a:r>
              <a:rPr b="1"/>
              <a:t>LIFO piekļuve:</a:t>
            </a:r>
            <a:r>
              <a:rPr/>
              <a:t> Visbiežāk vajag pēdējās grāmatas - steka “top” ir O(1) - </a:t>
            </a:r>
            <a:r>
              <a:rPr b="1"/>
              <a:t>Fiksēts izmērs:</a:t>
            </a:r>
            <a:r>
              <a:rPr/>
              <a:t> Tikai 10 grāmatas - vecākā automātiski dzēšas - </a:t>
            </a:r>
            <a:r>
              <a:rPr b="1"/>
              <a:t>Efektīva atmiņa:</a:t>
            </a:r>
            <a:r>
              <a:rPr/>
              <a:t> Nemainīgs izmērs, prognozējama atmiņas izmantošana - </a:t>
            </a:r>
            <a:r>
              <a:rPr b="1"/>
              <a:t>Cache-līdzīga uzvedība:</a:t>
            </a:r>
            <a:r>
              <a:rPr/>
              <a:t> Jaunākā informācija vienmēr pieejama ātri</a:t>
            </a:r>
          </a:p>
          <a:p>
            <a:pPr lvl="0" indent="0" marL="0">
              <a:buNone/>
            </a:pPr>
            <a:r>
              <a:rPr b="1"/>
              <a:t>Implementācija: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BookHistory: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max_size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.history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.max_size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max_size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add_book(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book):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.history)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.max_size: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.history.pop(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  </a:t>
            </a:r>
            <a:r>
              <a:rPr i="1">
                <a:solidFill>
                  <a:srgbClr val="60A0B0"/>
                </a:solidFill>
                <a:latin typeface="Courier"/>
              </a:rPr>
              <a:t># Dzēš vecāko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.history.append(book)  </a:t>
            </a:r>
            <a:r>
              <a:rPr i="1">
                <a:solidFill>
                  <a:srgbClr val="60A0B0"/>
                </a:solidFill>
                <a:latin typeface="Courier"/>
              </a:rPr>
              <a:t># Pievieno jauno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get_recent(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reversed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.history))  </a:t>
            </a:r>
            <a:r>
              <a:rPr i="1">
                <a:solidFill>
                  <a:srgbClr val="60A0B0"/>
                </a:solidFill>
                <a:latin typeface="Courier"/>
              </a:rPr>
              <a:t># Jaunākās pirmās</a:t>
            </a:r>
          </a:p>
          <a:p>
            <a:pPr lvl="0" indent="0" marL="0">
              <a:buNone/>
            </a:pPr>
            <a:r>
              <a:rPr b="1"/>
              <a:t>Alternatīvie risinājumi:</a:t>
            </a:r>
            <a:r>
              <a:rPr/>
              <a:t> - </a:t>
            </a:r>
            <a:r>
              <a:rPr b="1"/>
              <a:t>Saistītais saraksts:</a:t>
            </a:r>
            <a:r>
              <a:rPr/>
              <a:t> Varētu darboties, bet sarežģītāks. Nepieciešams sekot līdzi izmēram un dzēst no otra gala - </a:t>
            </a:r>
            <a:r>
              <a:rPr b="1"/>
              <a:t>Rinda (Queue):</a:t>
            </a:r>
            <a:r>
              <a:rPr/>
              <a:t> Loģiski piemērota vecākā elementa dzēšanai, bet nav optimāla pēdējo elementu piekļuvei - </a:t>
            </a:r>
            <a:r>
              <a:rPr b="1"/>
              <a:t>Datubāze ar ORDER BY:</a:t>
            </a:r>
            <a:r>
              <a:rPr/>
              <a:t> Lēnāka, bet laba, ja nepieciešama persistance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D) Jaunu grāmatu pievienošana</a:t>
            </a:r>
          </a:p>
          <a:p>
            <a:pPr lvl="0" indent="0" marL="0">
              <a:buNone/>
            </a:pPr>
            <a:r>
              <a:rPr b="1"/>
              <a:t>Izvēlētā datu struktūra:</a:t>
            </a:r>
            <a:r>
              <a:rPr/>
              <a:t> Rinda (Queue - FIFO)</a:t>
            </a:r>
          </a:p>
          <a:p>
            <a:pPr lvl="0" indent="0" marL="0">
              <a:buNone/>
            </a:pPr>
            <a:r>
              <a:rPr b="1"/>
              <a:t>Pamatojums:</a:t>
            </a:r>
            <a:r>
              <a:rPr/>
              <a:t> - </a:t>
            </a:r>
            <a:r>
              <a:rPr b="1"/>
              <a:t>FIFO loģika:</a:t>
            </a:r>
            <a:r>
              <a:rPr/>
              <a:t> Grāmatas jāapstrādā tādā pašā secībā, kādā saņemtas - </a:t>
            </a:r>
            <a:r>
              <a:rPr b="1"/>
              <a:t>Darba plūsmas specifika:</a:t>
            </a:r>
            <a:r>
              <a:rPr/>
              <a:t> Bibliotekārs apstrādā grāmatas pēc kārtas - </a:t>
            </a:r>
            <a:r>
              <a:rPr b="1"/>
              <a:t>Skaidra semantika:</a:t>
            </a:r>
            <a:r>
              <a:rPr/>
              <a:t> Rinda skaidri komunikē “to-do” saraksta loģiku - </a:t>
            </a:r>
            <a:r>
              <a:rPr b="1"/>
              <a:t>Operācijas:</a:t>
            </a:r>
            <a:r>
              <a:rPr/>
              <a:t> - Pievienot jaunu grāmatu: O(1) - Apstrādāt nākamo: O(1)</a:t>
            </a:r>
          </a:p>
          <a:p>
            <a:pPr lvl="0" indent="0" marL="0">
              <a:buNone/>
            </a:pPr>
            <a:r>
              <a:rPr b="1"/>
              <a:t>Alternatīvie risinājumi:</a:t>
            </a:r>
            <a:r>
              <a:rPr/>
              <a:t> - </a:t>
            </a:r>
            <a:r>
              <a:rPr b="1"/>
              <a:t>Steks (LIFO):</a:t>
            </a:r>
            <a:r>
              <a:rPr/>
              <a:t> Nepiemērots - pēdējā saņemtā grāmata tiktu apstrādāta pirmā. Neloģiski - </a:t>
            </a:r>
            <a:r>
              <a:rPr b="1"/>
              <a:t>Saistītais saraksts:</a:t>
            </a:r>
            <a:r>
              <a:rPr/>
              <a:t> Funkcionāli varētu darboties, bet nav tik skaidrs kā Queue - </a:t>
            </a:r>
            <a:r>
              <a:rPr b="1"/>
              <a:t>Masīvs:</a:t>
            </a:r>
            <a:r>
              <a:rPr/>
              <a:t> Neefektīvs elementu dzēšanai no sākuma (O(n) pārvietošana)</a:t>
            </a:r>
          </a:p>
          <a:p>
            <a:pPr lvl="0" indent="0" marL="0">
              <a:buNone/>
            </a:pPr>
            <a:r>
              <a:rPr b="1"/>
              <a:t>Praktiskais aspekts:</a:t>
            </a:r>
            <a:r>
              <a:rPr/>
              <a:t> Rinda ir dabisks veids, kā modelēt darba uzdevumu plūsmu - ko saņem vispirms, to apstrādā vispirms.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Kopsavilkums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  <a:gridCol w="381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Situācija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Struktūra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Galvenais iemesls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A) Katalogs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Masīvs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O(1) indeksēta piekļuve, fiksēts izmērs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B) Rezervācijas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Rinda (FIFO)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Godīgums, FIFO semantika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C) Vēsture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Cikliskais buferis/Steks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Piekļuve jaunākajiem, fiksēts izmērs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D) Apstrāde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Rinda (FIFO)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Darba plūsma, secīga apstrāde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Terminoloģija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O(1)</a:t>
            </a:r>
            <a:r>
              <a:rPr/>
              <a:t> - Konstanta laika sarežģītība (operācija izpildās vienādā laikā neatkarīgi no datu apjoma)</a:t>
            </a:r>
          </a:p>
          <a:p>
            <a:pPr lvl="0"/>
            <a:r>
              <a:rPr b="1"/>
              <a:t>O(n)</a:t>
            </a:r>
            <a:r>
              <a:rPr/>
              <a:t> - Lineāra laika sarežģītība (laiks pieaug proporcionāli datu apjomam)</a:t>
            </a:r>
          </a:p>
          <a:p>
            <a:pPr lvl="0"/>
            <a:r>
              <a:rPr b="1"/>
              <a:t>FIFO</a:t>
            </a:r>
            <a:r>
              <a:rPr/>
              <a:t> - First In, First Out (pirmais iekšā, pirmais ārā)</a:t>
            </a:r>
          </a:p>
          <a:p>
            <a:pPr lvl="0"/>
            <a:r>
              <a:rPr b="1"/>
              <a:t>LIFO</a:t>
            </a:r>
            <a:r>
              <a:rPr/>
              <a:t> - Last In, First Out (pēdējais iekšā, pirmais ārā)</a:t>
            </a:r>
          </a:p>
          <a:p>
            <a:pPr lvl="0"/>
            <a:r>
              <a:rPr b="1"/>
              <a:t>Indeksācija</a:t>
            </a:r>
            <a:r>
              <a:rPr/>
              <a:t> - Piekļuve elementam pēc tā pozīcijas (indeksa) masīvā</a:t>
            </a:r>
          </a:p>
          <a:p>
            <a:pPr lvl="0"/>
            <a:r>
              <a:rPr b="1"/>
              <a:t>Enkapsulācija</a:t>
            </a:r>
            <a:r>
              <a:rPr/>
              <a:t> - Datu paslēpšana objekta iekšienē</a:t>
            </a:r>
          </a:p>
          <a:p>
            <a:pPr lvl="0"/>
            <a:r>
              <a:rPr b="1"/>
              <a:t>Persistance</a:t>
            </a:r>
            <a:r>
              <a:rPr/>
              <a:t> - Datu saglabāšana starp programmas sesijām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2026-01-14T05:53:54Z</dcterms:created>
  <dcterms:modified xsi:type="dcterms:W3CDTF">2026-01-14T05:53:54Z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