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Bibliotēkas Grāmatu Pārvaldības Sistēma - 2. Daļa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 Prasību Analīze un Datu Modelēšana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1.1 Prasību Dokuments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Funkcionālās prasības</a:t>
            </a:r>
          </a:p>
          <a:p>
            <a:pPr lvl="0" indent="0" marL="0">
              <a:buNone/>
            </a:pPr>
            <a:r>
              <a:rPr b="1"/>
              <a:t>FR-1: Grāmatu pārvaldība</a:t>
            </a:r>
            <a:r>
              <a:rPr/>
              <a:t> - FR-1.1: Sistēmai jāspēj reģistrēt jaunu grāmatu (nosaukums, autors, ISBN, žanrs) - FR-1.2: Sistēmai jāspēj meklēt grāmatas pēc nosaukuma, autora, žanra - FR-1.3: Sistēmai jāspēj rediģēt grāmatas informāciju - FR-1.4: Sistēmai jāspēj dzēst grāmatu no sistēmas - FR-1.5: Sistēmai jāspēj attēlot visas pieejamās grāmatas</a:t>
            </a:r>
          </a:p>
          <a:p>
            <a:pPr lvl="0" indent="0" marL="0">
              <a:buNone/>
            </a:pPr>
            <a:r>
              <a:rPr b="1"/>
              <a:t>FR-2: Lietotāju pārvaldība</a:t>
            </a:r>
            <a:r>
              <a:rPr/>
              <a:t> - FR-2.1: Sistēmai jāspēj reģistrēt jaunus lietotājus - FR-2.2: Sistēmai jāspēj autentificēt lietotājus (ielogošanās) - FR-2.3: Sistēmai jāatbalsta divas lietotāju lomas: administrators un lietotājs - FR-2.4: Lietotājam jāspēj apskatīt savu profilu</a:t>
            </a:r>
          </a:p>
          <a:p>
            <a:pPr lvl="0" indent="0" marL="0">
              <a:buNone/>
            </a:pPr>
            <a:r>
              <a:rPr b="1"/>
              <a:t>FR-3: Grāmatu aizņemšanās</a:t>
            </a:r>
            <a:r>
              <a:rPr/>
              <a:t> - FR-3.1: Lietotājam jāspēj aizņemties pieejamu grāmatu - FR-3.2: Sistēmai jāreģistrē aizņemšanās datums un termiņš - FR-3.3: Lietotājam jāspēj atgriezt grāmatu - FR-3.4: Sistēmai jāspēj attēlot lietotāja aizņemto grāmatu vēsturi</a:t>
            </a:r>
          </a:p>
          <a:p>
            <a:pPr lvl="0" indent="0" marL="0">
              <a:buNone/>
            </a:pPr>
            <a:r>
              <a:rPr b="1"/>
              <a:t>FR-4: Meklēšana un filtrēšana</a:t>
            </a:r>
            <a:r>
              <a:rPr/>
              <a:t> - FR-4.1: Sistēmai jābūt meklēšanas funkcionalitātei - FR-4.2: Meklēšanai jāatbalsta daļēju sakritību (partial match) - FR-4.3: Rezultātiem jāattēlo grāmatas attēls, nosaukums, autors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Nefunkcionālās prasības</a:t>
            </a:r>
          </a:p>
          <a:p>
            <a:pPr lvl="0" indent="0" marL="0">
              <a:buNone/>
            </a:pPr>
            <a:r>
              <a:rPr b="1"/>
              <a:t>NFR-1: Veiktspēja</a:t>
            </a:r>
            <a:r>
              <a:rPr/>
              <a:t> - Meklēšanas rezultāti jāattēlo &lt; 500ms - Sistēmai jāspēj apstrādāt vismaz 5000 grāmatas</a:t>
            </a:r>
          </a:p>
          <a:p>
            <a:pPr lvl="0" indent="0" marL="0">
              <a:buNone/>
            </a:pPr>
            <a:r>
              <a:rPr b="1"/>
              <a:t>NFR-2: Drošība</a:t>
            </a:r>
            <a:r>
              <a:rPr/>
              <a:t> - Lietotāju paroles jāglabā šifrētā veidā (hash) - Sesiju pārvaldība ar autentifikāciju</a:t>
            </a:r>
          </a:p>
          <a:p>
            <a:pPr lvl="0" indent="0" marL="0">
              <a:buNone/>
            </a:pPr>
            <a:r>
              <a:rPr b="1"/>
              <a:t>NFR-3: Lietojamība</a:t>
            </a:r>
            <a:r>
              <a:rPr/>
              <a:t> - Moderna, responsive dizaina saskarnes - Intuitīva navigācija</a:t>
            </a:r>
          </a:p>
          <a:p>
            <a:pPr lvl="0" indent="0" marL="0">
              <a:buNone/>
            </a:pPr>
            <a:r>
              <a:rPr b="1"/>
              <a:t>NFR-4: Uzturēšana</a:t>
            </a:r>
            <a:r>
              <a:rPr/>
              <a:t> - Kods strukturēts pēc MVC arhitektūras - Komentēts kods kritiskajās vietās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Lietotāju lomas un tiesības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Funkcionalitāte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Administrators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Lietotājs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Viesis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Skatīt grāmatas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Meklēt grāmatas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Pievienot grāmatu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Rediģēt grāmatu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Dzēst grāmatu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✗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Aizņemties grāmatu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✗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Skatīt aizņemto vēsturi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(visi)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 (savu)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✗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1.2 Konceptuālais Datu Modelis (ER Diagramma)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┌─────────────────┐
│      USER       │
├─────────────────┤
│ PK: id          │
│    name         │
│    email        │
│    password     │
│    role         │
│    created_at   │
└────────┬────────┘
         │
         │ 1
         │
         │ has many
         │
         │ N
         ┆
┌────────▼────────┐         N        ┌─────────────────┐
│      LOAN       │◄─────────────────►│      BOOK       │
├─────────────────┤      borrows     ├─────────────────┤
│ PK: id          │                  │ PK: id          │
│ FK: user_id     │                  │    title        │
│ FK: book_id     │                  │    author       │
│    borrowed_at  │                  │    isbn         │
│    due_date     │                  │    genre        │
│    returned_at  │                  │    image        │
│    created_at   │                  │    created_at   │
└─────────────────┘                  └─────────────────┘
Relationships:
- USER (1) ──&lt; (N) LOAN : Lietotājs var aizņemties vairākas grāmatas
- BOOK (1) ──&lt; (N) LOAN : Grāmata var būt aizņemta vairākas reizes
- USER-LOAN-BOOK: M:N attiecība caur LOAN tabulu</a:t>
            </a:r>
          </a:p>
          <a:p>
            <a:pPr lvl="0" indent="0" marL="0">
              <a:buNone/>
            </a:pPr>
            <a:r>
              <a:rPr b="1"/>
              <a:t>Saišu apraksts:</a:t>
            </a:r>
            <a:r>
              <a:rPr/>
              <a:t> - </a:t>
            </a:r>
            <a:r>
              <a:rPr b="1"/>
              <a:t>One-to-Many (1:N):</a:t>
            </a:r>
            <a:r>
              <a:rPr/>
              <a:t> Viens lietotājs var veikt vairākus aizņēmumus - </a:t>
            </a:r>
            <a:r>
              <a:rPr b="1"/>
              <a:t>One-to-Many (1:N):</a:t>
            </a:r>
            <a:r>
              <a:rPr/>
              <a:t> Viena grāmata var būt aizņemta vairākas reizes (laika gaitā) - </a:t>
            </a:r>
            <a:r>
              <a:rPr b="1"/>
              <a:t>Many-to-Many (M:N):</a:t>
            </a:r>
            <a:r>
              <a:rPr/>
              <a:t> Vairāki lietotāji var aizņemties vairākas grāmatas (realizēts caur LOAN tabulu)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1.3 Loģiskais Datu Modelis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Tabula: users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104900"/>
                <a:gridCol w="1397000"/>
                <a:gridCol w="1003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Lauka nosaukums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Datu tips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Ierobežojumi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Apraksts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KEY, AUTO_INCREMENT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Unikāls lietotāja ID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VARCHAR(255)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Lietotāja vārds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email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VARCHAR(255)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NULL, UNIQUE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E-pasta adrese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password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VARCHAR(255)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Šifrēta parole (hash)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VARCHAR(50)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 ‘user’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Lietotāja loma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created_at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 CURRENT_TIMESTAMP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Reģistrācijas datums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updated_at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UPDATE CURRENT_TIMESTAMP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Pēdējās izmaiņas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Indeksi:</a:t>
            </a:r>
            <a:r>
              <a:rPr/>
              <a:t> - PRIMARY KEY: id - UNIQUE INDEX: email - INDEX: role (filtrēšanai pēc lomām)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Tabula: books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104900"/>
                <a:gridCol w="1397000"/>
                <a:gridCol w="1003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Lauka nosaukums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Datu tips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Ierobežojumi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Apraksts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KEY, AUTO_INCREMENT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Unikāls grāmatas ID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title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VARCHAR(255)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Grāmatas nosaukums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VARCHAR(255)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Autora vārds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isbn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VARCHAR(20)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ISBN numurs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VARCHAR(100)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Žanrs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VARCHAR(255)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Attēla ceļš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created_at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 CURRENT_TIMESTAMP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Pievienošanas datums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updated_at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UPDATE CURRENT_TIMESTAMP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Pēdējās izmaiņas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Indeksi:</a:t>
            </a:r>
            <a:r>
              <a:rPr/>
              <a:t> - PRIMARY KEY: id - UNIQUE INDEX: isbn - INDEX: title (meklēšanai) - INDEX: author (meklēšanai) - INDEX: genre (filtrēšanai)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Tabula: loans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104900"/>
                <a:gridCol w="1397000"/>
                <a:gridCol w="1003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Lauka nosaukums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Datu tips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Ierobežojumi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Apraksts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KEY, AUTO_INCREMENT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Unikāls aizņēmuma ID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user_id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FOREIGN KEY (users.id) ON DELETE CASCADE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Lietotāja atsauce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book_id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FOREIGN KEY (books.id) ON DELETE CASCADE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Grāmatas atsauce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borrowed_at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NULL, DEFAULT CURRENT_TIMESTAMP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Aizņemšanās datums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due_date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 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Atgriešanas termiņš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returned_at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Faktiskais atgriešanas datums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created_at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 CURRENT_TIMESTAMP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Ieraksta izveides datums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updated_at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 UPDATE CURRENT_TIMESTAMP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Pēdējās izmaiņas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Indeksi:</a:t>
            </a:r>
            <a:r>
              <a:rPr/>
              <a:t> - PRIMARY KEY: id - FOREIGN KEY: user_id → users(id) - FOREIGN KEY: book_id → books(id) - INDEX: (user_id, book_id) - kombinēts indeks - INDEX: borrowed_at (vēstures vaicājumiem) - INDEX: returned_at (aktīvo aizņēmumu filtrēšanai)</a:t>
            </a:r>
          </a:p>
          <a:p>
            <a:pPr lvl="0" indent="0" marL="0">
              <a:buNone/>
            </a:pPr>
            <a:r>
              <a:rPr b="1"/>
              <a:t>Biznesa loģika:</a:t>
            </a:r>
            <a:r>
              <a:rPr/>
              <a:t> - Grāmata ir pieejama aizņemšanai, ja loans tabulā nav ieraksta ar book_id, kur returned_at IS NULL - Aizņemšanās periods: 14 dienas (due_date = borrowed_at + 14 days)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 Datu Struktūru Pārvaldība un Ieviešana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2.1 Datu Struktūras Izvēle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Izvēlētā datu struktūra:</a:t>
            </a:r>
            <a:r>
              <a:rPr/>
              <a:t> Eloquent ORM ar Relāciju Datubāzi (SQLite/MySQL)</a:t>
            </a:r>
          </a:p>
          <a:p>
            <a:pPr lvl="0" indent="0" marL="0">
              <a:buNone/>
            </a:pPr>
            <a:r>
              <a:rPr b="1"/>
              <a:t>Pamatojums:</a:t>
            </a:r>
          </a:p>
          <a:p>
            <a:pPr lvl="0" indent="-342900" marL="342900">
              <a:buAutoNum type="arabicPeriod"/>
            </a:pPr>
            <a:r>
              <a:rPr b="1"/>
              <a:t>Hash Table (caur indeksiem):</a:t>
            </a:r>
          </a:p>
          <a:p>
            <a:pPr lvl="1"/>
            <a:r>
              <a:rPr/>
              <a:t>Meklēšana pēc ID: O(1)</a:t>
            </a:r>
          </a:p>
          <a:p>
            <a:pPr lvl="1"/>
            <a:r>
              <a:rPr/>
              <a:t>Indeksi uz title, author: Ātra meklēšana O(log n)</a:t>
            </a:r>
          </a:p>
          <a:p>
            <a:pPr lvl="0" indent="-342900" marL="342900">
              <a:buAutoNum type="arabicPeriod"/>
            </a:pPr>
            <a:r>
              <a:rPr b="1"/>
              <a:t>Saistītie saraksti (caur relācijām):</a:t>
            </a:r>
          </a:p>
          <a:p>
            <a:pPr lvl="1"/>
            <a:r>
              <a:rPr/>
              <a:t>Users ↔ Loans ↔ Books</a:t>
            </a:r>
          </a:p>
          <a:p>
            <a:pPr lvl="1"/>
            <a:r>
              <a:rPr/>
              <a:t>Efektīva daudz-pret-daudziem attiecību pārvaldība</a:t>
            </a:r>
          </a:p>
          <a:p>
            <a:pPr lvl="0" indent="-342900" marL="342900">
              <a:buAutoNum type="arabicPeriod"/>
            </a:pPr>
            <a:r>
              <a:rPr b="1"/>
              <a:t>Kolekcijas (Laravel Collections):</a:t>
            </a:r>
          </a:p>
          <a:p>
            <a:pPr lvl="1"/>
            <a:r>
              <a:rPr/>
              <a:t>Atgriež masīva līdzīgu struktūru ar iterācijas metodēm</a:t>
            </a:r>
          </a:p>
          <a:p>
            <a:pPr lvl="1"/>
            <a:r>
              <a:rPr/>
              <a:t>Optimizēti vaicājumi ar lazy loading</a:t>
            </a:r>
          </a:p>
          <a:p>
            <a:pPr lvl="0" indent="0" marL="0">
              <a:buNone/>
            </a:pPr>
            <a:r>
              <a:rPr b="1"/>
              <a:t>Veiktspējas analīze: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Operācija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Laika sarežģītība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Paskaidrojums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Meklēt pēc ID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Primary key index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Meklēt pēc nosaukuma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O(log 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B-Tree index uz title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Pievienot grāmatu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INSERT operācija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Dzēst grāmatu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DELETE ar indeksu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Atrast lietotāja aizņēmumus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O(k)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 = aizņēmumu skaits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2.2 Klašu Struktūra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Book.php (Eloquent Model)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&lt;?php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namespace</a:t>
            </a:r>
            <a:r>
              <a:rPr>
                <a:latin typeface="Courier"/>
              </a:rPr>
              <a:t> App\Models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use</a:t>
            </a:r>
            <a:r>
              <a:rPr>
                <a:latin typeface="Courier"/>
              </a:rPr>
              <a:t> Illuminate\Database\Eloquent\Model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* Grāmatas modelis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* 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* Atmiņas izvietojums: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* - Objekta instance glabājas heap atmiņā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* - Atribūti glabājas kā objekta properties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* - Eloquent izmanto lazy loading - dati tiek ielādēti tikai kad nepieciešams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*/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Book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Model</a:t>
            </a:r>
            <a:br/>
            <a:r>
              <a:rPr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Tabulas nosaukums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protected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$table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'books'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Masveida piešķiramie lauki (mass assignment)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protected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$fillable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'title'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'author'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'isbn'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'genre'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'image'</a:t>
            </a:r>
            <a:br/>
            <a:r>
              <a:rPr>
                <a:latin typeface="Courier"/>
              </a:rPr>
              <a:t>    ]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Lauka tipu casting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protected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$casts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'created_at'</a:t>
            </a:r>
            <a:r>
              <a:rPr>
                <a:latin typeface="Courier"/>
              </a:rPr>
              <a:t> =&gt; </a:t>
            </a:r>
            <a:r>
              <a:rPr>
                <a:solidFill>
                  <a:srgbClr val="4070A0"/>
                </a:solidFill>
                <a:latin typeface="Courier"/>
              </a:rPr>
              <a:t>'datetime'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'updated_at'</a:t>
            </a:r>
            <a:r>
              <a:rPr>
                <a:latin typeface="Courier"/>
              </a:rPr>
              <a:t> =&gt; </a:t>
            </a:r>
            <a:r>
              <a:rPr>
                <a:solidFill>
                  <a:srgbClr val="4070A0"/>
                </a:solidFill>
                <a:latin typeface="Courier"/>
              </a:rPr>
              <a:t>'datetime'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]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 Relācija: Grāmata var būt aizņemta vairākas reizes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 One-to-Many attiecība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*/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loans()</a:t>
            </a:r>
            <a:br/>
            <a:r>
              <a:rPr>
                <a:latin typeface="Courier"/>
              </a:rPr>
              <a:t>    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$this</a:t>
            </a:r>
            <a:r>
              <a:rPr>
                <a:latin typeface="Courier"/>
              </a:rPr>
              <a:t>-&gt;hasMany(Loan::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 Pārbauda vai grāmata ir pieejama aizņemšanai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 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 </a:t>
            </a:r>
            <a:r>
              <a:rPr b="1" i="1">
                <a:solidFill>
                  <a:srgbClr val="60A0B0"/>
                </a:solidFill>
                <a:latin typeface="Courier"/>
              </a:rPr>
              <a:t>@return</a:t>
            </a:r>
            <a:r>
              <a:rPr i="1">
                <a:solidFill>
                  <a:srgbClr val="60A0B0"/>
                </a:solidFill>
                <a:latin typeface="Courier"/>
              </a:rPr>
              <a:t> bool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*/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isAvailable()</a:t>
            </a:r>
            <a:r>
              <a:rPr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br/>
            <a:r>
              <a:rPr>
                <a:latin typeface="Courier"/>
              </a:rPr>
              <a:t>    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!</a:t>
            </a:r>
            <a:r>
              <a:rPr>
                <a:solidFill>
                  <a:srgbClr val="19177C"/>
                </a:solidFill>
                <a:latin typeface="Courier"/>
              </a:rPr>
              <a:t>$this</a:t>
            </a:r>
            <a:r>
              <a:rPr>
                <a:latin typeface="Courier"/>
              </a:rPr>
              <a:t>-&gt;loans()</a:t>
            </a:r>
            <a:br/>
            <a:r>
              <a:rPr>
                <a:latin typeface="Courier"/>
              </a:rPr>
              <a:t>            -&gt;whereNull(</a:t>
            </a:r>
            <a:r>
              <a:rPr>
                <a:solidFill>
                  <a:srgbClr val="4070A0"/>
                </a:solidFill>
                <a:latin typeface="Courier"/>
              </a:rPr>
              <a:t>'returned_at'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-&gt;exists()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 Iegūst aktīvo aizņēmumu (ja eksistē)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*/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currentLoan()</a:t>
            </a:r>
            <a:br/>
            <a:r>
              <a:rPr>
                <a:latin typeface="Courier"/>
              </a:rPr>
              <a:t>    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$this</a:t>
            </a:r>
            <a:r>
              <a:rPr>
                <a:latin typeface="Courier"/>
              </a:rPr>
              <a:t>-&gt;loans()</a:t>
            </a:r>
            <a:br/>
            <a:r>
              <a:rPr>
                <a:latin typeface="Courier"/>
              </a:rPr>
              <a:t>            -&gt;whereNull(</a:t>
            </a:r>
            <a:r>
              <a:rPr>
                <a:solidFill>
                  <a:srgbClr val="4070A0"/>
                </a:solidFill>
                <a:latin typeface="Courier"/>
              </a:rPr>
              <a:t>'returned_at'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-&gt;first()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}</a:t>
            </a:r>
            <a:br/>
            <a:r>
              <a:rPr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User.php (Eloquent Model)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&lt;?php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namespace</a:t>
            </a:r>
            <a:r>
              <a:rPr>
                <a:latin typeface="Courier"/>
              </a:rPr>
              <a:t> App\Models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use</a:t>
            </a:r>
            <a:r>
              <a:rPr>
                <a:latin typeface="Courier"/>
              </a:rPr>
              <a:t> Illuminate\Foundation\Auth\User </a:t>
            </a:r>
            <a:r>
              <a:rPr b="1">
                <a:solidFill>
                  <a:srgbClr val="00702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Authenticatable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* Lietotāja modelis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* Paplašina Laravel Authentication funkcionalitāti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*/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User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Authenticatable</a:t>
            </a:r>
            <a:br/>
            <a:r>
              <a:rPr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protected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$fillable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'name'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'email'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'password'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'role'</a:t>
            </a:r>
            <a:br/>
            <a:r>
              <a:rPr>
                <a:latin typeface="Courier"/>
              </a:rPr>
              <a:t>    ]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protected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$hidden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'password'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'remember_token'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]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protected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$casts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'email_verified_at'</a:t>
            </a:r>
            <a:r>
              <a:rPr>
                <a:latin typeface="Courier"/>
              </a:rPr>
              <a:t> =&gt; </a:t>
            </a:r>
            <a:r>
              <a:rPr>
                <a:solidFill>
                  <a:srgbClr val="4070A0"/>
                </a:solidFill>
                <a:latin typeface="Courier"/>
              </a:rPr>
              <a:t>'datetime'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'password'</a:t>
            </a:r>
            <a:r>
              <a:rPr>
                <a:latin typeface="Courier"/>
              </a:rPr>
              <a:t> =&gt; </a:t>
            </a:r>
            <a:r>
              <a:rPr>
                <a:solidFill>
                  <a:srgbClr val="4070A0"/>
                </a:solidFill>
                <a:latin typeface="Courier"/>
              </a:rPr>
              <a:t>'hashed'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Automātiska hash</a:t>
            </a:r>
            <a:br/>
            <a:r>
              <a:rPr>
                <a:latin typeface="Courier"/>
              </a:rPr>
              <a:t>    ]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 Relācija: Lietotājs var veikt vairākus aizņēmumus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*/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loans()</a:t>
            </a:r>
            <a:br/>
            <a:r>
              <a:rPr>
                <a:latin typeface="Courier"/>
              </a:rPr>
              <a:t>    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$this</a:t>
            </a:r>
            <a:r>
              <a:rPr>
                <a:latin typeface="Courier"/>
              </a:rPr>
              <a:t>-&gt;hasMany(Loan::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 Iegūst lietotāja aktīvos aizņēmumus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*/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activeLoans()</a:t>
            </a:r>
            <a:br/>
            <a:r>
              <a:rPr>
                <a:latin typeface="Courier"/>
              </a:rPr>
              <a:t>    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$this</a:t>
            </a:r>
            <a:r>
              <a:rPr>
                <a:latin typeface="Courier"/>
              </a:rPr>
              <a:t>-&gt;loans()</a:t>
            </a:r>
            <a:br/>
            <a:r>
              <a:rPr>
                <a:latin typeface="Courier"/>
              </a:rPr>
              <a:t>            -&gt;whereNull(</a:t>
            </a:r>
            <a:r>
              <a:rPr>
                <a:solidFill>
                  <a:srgbClr val="4070A0"/>
                </a:solidFill>
                <a:latin typeface="Courier"/>
              </a:rPr>
              <a:t>'returned_at'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  -&gt;with(</a:t>
            </a:r>
            <a:r>
              <a:rPr>
                <a:solidFill>
                  <a:srgbClr val="4070A0"/>
                </a:solidFill>
                <a:latin typeface="Courier"/>
              </a:rPr>
              <a:t>'book'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 Pārbauda vai lietotājs ir administrators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*/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isAdmin()</a:t>
            </a:r>
            <a:r>
              <a:rPr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br/>
            <a:r>
              <a:rPr>
                <a:latin typeface="Courier"/>
              </a:rPr>
              <a:t>    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$this</a:t>
            </a:r>
            <a:r>
              <a:rPr>
                <a:latin typeface="Courier"/>
              </a:rPr>
              <a:t>-&gt;role </a:t>
            </a:r>
            <a:r>
              <a:rPr>
                <a:solidFill>
                  <a:srgbClr val="666666"/>
                </a:solidFill>
                <a:latin typeface="Courier"/>
              </a:rPr>
              <a:t>===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'admin'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}</a:t>
            </a:r>
            <a:br/>
            <a:r>
              <a:rPr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Loan.php (Eloquent Model)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&lt;?php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namespace</a:t>
            </a:r>
            <a:r>
              <a:rPr>
                <a:latin typeface="Courier"/>
              </a:rPr>
              <a:t> App\Models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use</a:t>
            </a:r>
            <a:r>
              <a:rPr>
                <a:latin typeface="Courier"/>
              </a:rPr>
              <a:t> Illuminate\Database\Eloquent\Model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* Aizņēmuma modelis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* Savieno User un Book (junction table)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*/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Loan </a:t>
            </a:r>
            <a:r>
              <a:rPr b="1">
                <a:solidFill>
                  <a:srgbClr val="007020"/>
                </a:solidFill>
                <a:latin typeface="Courier"/>
              </a:rPr>
              <a:t>extends</a:t>
            </a:r>
            <a:r>
              <a:rPr>
                <a:latin typeface="Courier"/>
              </a:rPr>
              <a:t> Model</a:t>
            </a:r>
            <a:br/>
            <a:r>
              <a:rPr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protected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$fillable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'user_id'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'book_id'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'borrowed_at'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'due_date'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'returned_at'</a:t>
            </a:r>
            <a:br/>
            <a:r>
              <a:rPr>
                <a:latin typeface="Courier"/>
              </a:rPr>
              <a:t>    ]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protected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$casts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'borrowed_at'</a:t>
            </a:r>
            <a:r>
              <a:rPr>
                <a:latin typeface="Courier"/>
              </a:rPr>
              <a:t> =&gt; </a:t>
            </a:r>
            <a:r>
              <a:rPr>
                <a:solidFill>
                  <a:srgbClr val="4070A0"/>
                </a:solidFill>
                <a:latin typeface="Courier"/>
              </a:rPr>
              <a:t>'datetime'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'due_date'</a:t>
            </a:r>
            <a:r>
              <a:rPr>
                <a:latin typeface="Courier"/>
              </a:rPr>
              <a:t> =&gt; </a:t>
            </a:r>
            <a:r>
              <a:rPr>
                <a:solidFill>
                  <a:srgbClr val="4070A0"/>
                </a:solidFill>
                <a:latin typeface="Courier"/>
              </a:rPr>
              <a:t>'date'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4070A0"/>
                </a:solidFill>
                <a:latin typeface="Courier"/>
              </a:rPr>
              <a:t>'returned_at'</a:t>
            </a:r>
            <a:r>
              <a:rPr>
                <a:latin typeface="Courier"/>
              </a:rPr>
              <a:t> =&gt; </a:t>
            </a:r>
            <a:r>
              <a:rPr>
                <a:solidFill>
                  <a:srgbClr val="4070A0"/>
                </a:solidFill>
                <a:latin typeface="Courier"/>
              </a:rPr>
              <a:t>'datetime'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]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 Relācija: Aizņēmums pieder lietotājam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*/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user()</a:t>
            </a:r>
            <a:br/>
            <a:r>
              <a:rPr>
                <a:latin typeface="Courier"/>
              </a:rPr>
              <a:t>    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$this</a:t>
            </a:r>
            <a:r>
              <a:rPr>
                <a:latin typeface="Courier"/>
              </a:rPr>
              <a:t>-&gt;belongsTo(User::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 Relācija: Aizņēmums ir par grāmatu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*/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book()</a:t>
            </a:r>
            <a:br/>
            <a:r>
              <a:rPr>
                <a:latin typeface="Courier"/>
              </a:rPr>
              <a:t>    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$this</a:t>
            </a:r>
            <a:r>
              <a:rPr>
                <a:latin typeface="Courier"/>
              </a:rPr>
              <a:t>-&gt;belongsTo(Book::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}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/**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 Pārbauda vai aizņēmums ir nokavēts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*/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isOverdue()</a:t>
            </a:r>
            <a:r>
              <a:rPr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bool</a:t>
            </a:r>
            <a:br/>
            <a:r>
              <a:rPr>
                <a:latin typeface="Courier"/>
              </a:rPr>
              <a:t>    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$this</a:t>
            </a:r>
            <a:r>
              <a:rPr>
                <a:latin typeface="Courier"/>
              </a:rPr>
              <a:t>-&gt;returned_at </a:t>
            </a:r>
            <a:r>
              <a:rPr>
                <a:solidFill>
                  <a:srgbClr val="666666"/>
                </a:solidFill>
                <a:latin typeface="Courier"/>
              </a:rPr>
              <a:t>===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latin typeface="Courier"/>
              </a:rPr>
              <a:t> 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$this</a:t>
            </a:r>
            <a:r>
              <a:rPr>
                <a:latin typeface="Courier"/>
              </a:rPr>
              <a:t>-&gt;due_date-&gt;isPast()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}</a:t>
            </a:r>
            <a:br/>
            <a:r>
              <a:rPr>
                <a:latin typeface="Courier"/>
              </a:rPr>
              <a:t>}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2.3 CRUD Funkcionalitātes Implementācija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Implementēts BookController.php ar visām CRUD operācijām un meklēšanas API.</a:t>
            </a:r>
          </a:p>
          <a:p>
            <a:pPr lvl="0" indent="0" marL="0">
              <a:buNone/>
            </a:pPr>
            <a:r>
              <a:rPr b="1"/>
              <a:t>Galvenās funkcijas:</a:t>
            </a:r>
            <a:r>
              <a:rPr/>
              <a:t> - </a:t>
            </a:r>
            <a:r>
              <a:rPr>
                <a:latin typeface="Courier"/>
              </a:rPr>
              <a:t>index()</a:t>
            </a:r>
            <a:r>
              <a:rPr/>
              <a:t> - Attēlo visas grāmatas - </a:t>
            </a:r>
            <a:r>
              <a:rPr>
                <a:latin typeface="Courier"/>
              </a:rPr>
              <a:t>create()</a:t>
            </a:r>
            <a:r>
              <a:rPr/>
              <a:t> - Forma jaunas grāmatas pievienošanai - </a:t>
            </a:r>
            <a:r>
              <a:rPr>
                <a:latin typeface="Courier"/>
              </a:rPr>
              <a:t>store()</a:t>
            </a:r>
            <a:r>
              <a:rPr/>
              <a:t> - Saglabā jaunu grāmatu - </a:t>
            </a:r>
            <a:r>
              <a:rPr>
                <a:latin typeface="Courier"/>
              </a:rPr>
              <a:t>search()</a:t>
            </a:r>
            <a:r>
              <a:rPr/>
              <a:t> - API endpoint meklēšanai - </a:t>
            </a:r>
            <a:r>
              <a:rPr>
                <a:latin typeface="Courier"/>
              </a:rPr>
              <a:t>destroy()</a:t>
            </a:r>
            <a:r>
              <a:rPr/>
              <a:t> - Dzēš grāmatu</a:t>
            </a:r>
          </a:p>
          <a:p>
            <a:pPr lvl="0" indent="0" marL="0">
              <a:buNone/>
            </a:pPr>
            <a:r>
              <a:rPr b="1"/>
              <a:t>Meklēšanas optimizācija:</a:t>
            </a:r>
          </a:p>
          <a:p>
            <a:pPr lvl="0" indent="0">
              <a:buNone/>
            </a:pPr>
            <a:r>
              <a:rPr>
                <a:solidFill>
                  <a:srgbClr val="19177C"/>
                </a:solidFill>
                <a:latin typeface="Courier"/>
              </a:rPr>
              <a:t>$books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Book::query()</a:t>
            </a:r>
            <a:br/>
            <a:r>
              <a:rPr>
                <a:latin typeface="Courier"/>
              </a:rPr>
              <a:t>    -&gt;when(</a:t>
            </a:r>
            <a:r>
              <a:rPr>
                <a:solidFill>
                  <a:srgbClr val="19177C"/>
                </a:solidFill>
                <a:latin typeface="Courier"/>
              </a:rPr>
              <a:t>$query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$q</a:t>
            </a:r>
            <a:r>
              <a:rPr>
                <a:latin typeface="Courier"/>
              </a:rPr>
              <a:t>) </a:t>
            </a:r>
            <a:r>
              <a:rPr b="1">
                <a:solidFill>
                  <a:srgbClr val="007020"/>
                </a:solidFill>
                <a:latin typeface="Courier"/>
              </a:rPr>
              <a:t>use</a:t>
            </a:r>
            <a:r>
              <a:rPr>
                <a:latin typeface="Courier"/>
              </a:rPr>
              <a:t> (</a:t>
            </a:r>
            <a:r>
              <a:rPr>
                <a:solidFill>
                  <a:srgbClr val="19177C"/>
                </a:solidFill>
                <a:latin typeface="Courier"/>
              </a:rPr>
              <a:t>$query</a:t>
            </a:r>
            <a:r>
              <a:rPr>
                <a:latin typeface="Courier"/>
              </a:rPr>
              <a:t>) 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$q</a:t>
            </a:r>
            <a:r>
              <a:rPr>
                <a:latin typeface="Courier"/>
              </a:rPr>
              <a:t>-&gt;where(</a:t>
            </a:r>
            <a:r>
              <a:rPr>
                <a:solidFill>
                  <a:srgbClr val="4070A0"/>
                </a:solidFill>
                <a:latin typeface="Courier"/>
              </a:rPr>
              <a:t>'title'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'LIKE'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"%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19177C"/>
                </a:solidFill>
                <a:latin typeface="Courier"/>
              </a:rPr>
              <a:t>$query</a:t>
            </a:r>
            <a:r>
              <a:rPr>
                <a:latin typeface="Courier"/>
              </a:rPr>
              <a:t>}</a:t>
            </a:r>
            <a:r>
              <a:rPr>
                <a:solidFill>
                  <a:srgbClr val="4070A0"/>
                </a:solidFill>
                <a:latin typeface="Courier"/>
              </a:rPr>
              <a:t>%"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-&gt;orWhere(</a:t>
            </a:r>
            <a:r>
              <a:rPr>
                <a:solidFill>
                  <a:srgbClr val="4070A0"/>
                </a:solidFill>
                <a:latin typeface="Courier"/>
              </a:rPr>
              <a:t>'author'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'LIKE'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"%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19177C"/>
                </a:solidFill>
                <a:latin typeface="Courier"/>
              </a:rPr>
              <a:t>$query</a:t>
            </a:r>
            <a:r>
              <a:rPr>
                <a:latin typeface="Courier"/>
              </a:rPr>
              <a:t>}</a:t>
            </a:r>
            <a:r>
              <a:rPr>
                <a:solidFill>
                  <a:srgbClr val="4070A0"/>
                </a:solidFill>
                <a:latin typeface="Courier"/>
              </a:rPr>
              <a:t>%"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      -&gt;orWhere(</a:t>
            </a:r>
            <a:r>
              <a:rPr>
                <a:solidFill>
                  <a:srgbClr val="4070A0"/>
                </a:solidFill>
                <a:latin typeface="Courier"/>
              </a:rPr>
              <a:t>'genre'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'LIKE'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"%</a:t>
            </a:r>
            <a:r>
              <a:rPr>
                <a:latin typeface="Courier"/>
              </a:rPr>
              <a:t>{</a:t>
            </a:r>
            <a:r>
              <a:rPr>
                <a:solidFill>
                  <a:srgbClr val="19177C"/>
                </a:solidFill>
                <a:latin typeface="Courier"/>
              </a:rPr>
              <a:t>$query</a:t>
            </a:r>
            <a:r>
              <a:rPr>
                <a:latin typeface="Courier"/>
              </a:rPr>
              <a:t>}</a:t>
            </a:r>
            <a:r>
              <a:rPr>
                <a:solidFill>
                  <a:srgbClr val="4070A0"/>
                </a:solidFill>
                <a:latin typeface="Courier"/>
              </a:rPr>
              <a:t>%"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})</a:t>
            </a:r>
            <a:br/>
            <a:r>
              <a:rPr>
                <a:latin typeface="Courier"/>
              </a:rPr>
              <a:t>    -&gt;get()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 Datu Glabāšanas Sistēmas Izvēle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3.1 Izvēlētā sistēma: SQLite (Relāciju Datubāze)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Pamatojums: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Kāpēc SQL datubāze?</a:t>
            </a:r>
          </a:p>
          <a:p>
            <a:pPr lvl="0" indent="-342900" marL="342900">
              <a:buAutoNum type="arabicPeriod"/>
            </a:pPr>
            <a:r>
              <a:rPr b="1"/>
              <a:t>Strukturēti dati:</a:t>
            </a:r>
          </a:p>
          <a:p>
            <a:pPr lvl="1"/>
            <a:r>
              <a:rPr/>
              <a:t>Grāmatu, lietotāju un aizņēmumu dati ir strukturēti</a:t>
            </a:r>
          </a:p>
          <a:p>
            <a:pPr lvl="1"/>
            <a:r>
              <a:rPr/>
              <a:t>Skaidras attiecības (relācijas) starp entītijām</a:t>
            </a:r>
          </a:p>
          <a:p>
            <a:pPr lvl="1"/>
            <a:r>
              <a:rPr/>
              <a:t>FOREIGN KEY integritātes ierobežojumi</a:t>
            </a:r>
          </a:p>
          <a:p>
            <a:pPr lvl="0" indent="-342900" marL="342900">
              <a:buAutoNum type="arabicPeriod"/>
            </a:pPr>
            <a:r>
              <a:rPr b="1"/>
              <a:t>ACID īpašības:</a:t>
            </a:r>
          </a:p>
          <a:p>
            <a:pPr lvl="1"/>
            <a:r>
              <a:rPr b="1"/>
              <a:t>Atomicity:</a:t>
            </a:r>
            <a:r>
              <a:rPr/>
              <a:t> Transakcija vai nu notiek pilnībā, vai nenotiek</a:t>
            </a:r>
          </a:p>
          <a:p>
            <a:pPr lvl="1"/>
            <a:r>
              <a:rPr b="1"/>
              <a:t>Consistency:</a:t>
            </a:r>
            <a:r>
              <a:rPr/>
              <a:t> Dati vienmēr konsistentā stāvoklī</a:t>
            </a:r>
          </a:p>
          <a:p>
            <a:pPr lvl="1"/>
            <a:r>
              <a:rPr b="1"/>
              <a:t>Isolation:</a:t>
            </a:r>
            <a:r>
              <a:rPr/>
              <a:t> Vairāki lietotāji var strādāt vienlaicīgi</a:t>
            </a:r>
          </a:p>
          <a:p>
            <a:pPr lvl="1"/>
            <a:r>
              <a:rPr b="1"/>
              <a:t>Durability:</a:t>
            </a:r>
            <a:r>
              <a:rPr/>
              <a:t> Dati saglabājas pēc transakcijas</a:t>
            </a:r>
          </a:p>
          <a:p>
            <a:pPr lvl="0" indent="-342900" marL="342900">
              <a:buAutoNum type="arabicPeriod"/>
            </a:pPr>
            <a:r>
              <a:rPr b="1"/>
              <a:t>Vaicājumu iespējas:</a:t>
            </a:r>
          </a:p>
          <a:p>
            <a:pPr lvl="1"/>
            <a:r>
              <a:rPr/>
              <a:t>SQL JOIN operācijas relāciju vaicājumiem</a:t>
            </a:r>
          </a:p>
          <a:p>
            <a:pPr lvl="1"/>
            <a:r>
              <a:rPr/>
              <a:t>WHERE, ORDER BY, GROUP BY filtrēšanai</a:t>
            </a:r>
          </a:p>
          <a:p>
            <a:pPr lvl="1"/>
            <a:r>
              <a:rPr/>
              <a:t>Indeksi ātrai meklēšanai</a:t>
            </a:r>
          </a:p>
          <a:p>
            <a:pPr lvl="0" indent="-342900" marL="342900">
              <a:buAutoNum type="arabicPeriod"/>
            </a:pPr>
            <a:r>
              <a:rPr b="1"/>
              <a:t>Mērogojamība:</a:t>
            </a:r>
          </a:p>
          <a:p>
            <a:pPr lvl="1"/>
            <a:r>
              <a:rPr/>
              <a:t>SQLite: Līdz 1M ierakstiem (~140TB)</a:t>
            </a:r>
          </a:p>
          <a:p>
            <a:pPr lvl="1"/>
            <a:r>
              <a:rPr/>
              <a:t>Viegli pārejama uz MySQL/PostgreSQL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Kāpēc tieši SQLite?</a:t>
            </a:r>
          </a:p>
          <a:p>
            <a:pPr lvl="0"/>
            <a:r>
              <a:rPr b="1"/>
              <a:t>Vienkāršība:</a:t>
            </a:r>
            <a:r>
              <a:rPr/>
              <a:t> Nav nepieciešams atsevišķs serveris</a:t>
            </a:r>
          </a:p>
          <a:p>
            <a:pPr lvl="0"/>
            <a:r>
              <a:rPr b="1"/>
              <a:t>Lietderīgs maziem projektiem:</a:t>
            </a:r>
            <a:r>
              <a:rPr/>
              <a:t> Līdz ~10000 grāmatas</a:t>
            </a:r>
          </a:p>
          <a:p>
            <a:pPr lvl="0"/>
            <a:r>
              <a:rPr b="1"/>
              <a:t>File-based:</a:t>
            </a:r>
            <a:r>
              <a:rPr/>
              <a:t> Viss datu bāzē vienā failā</a:t>
            </a:r>
          </a:p>
          <a:p>
            <a:pPr lvl="0"/>
            <a:r>
              <a:rPr b="1"/>
              <a:t>Zero-configuration:</a:t>
            </a:r>
            <a:r>
              <a:rPr/>
              <a:t> Automātiski darbojas Laravel vidē</a:t>
            </a:r>
          </a:p>
          <a:p>
            <a:pPr lvl="0"/>
            <a:r>
              <a:rPr b="1"/>
              <a:t>Testējamība:</a:t>
            </a:r>
            <a:r>
              <a:rPr/>
              <a:t> Viegli izveidot test datubāzes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3.2 Salīdzinājums ar citām opcijām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2336800"/>
                <a:gridCol w="1714500"/>
                <a:gridCol w="2082800"/>
                <a:gridCol w="977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Aspekts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SQLite (izvēlēts)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Teksta 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NoSQL (MongoDB)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MySQL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Meklēšanas ātrums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 (indexed)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 (O(n))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Relāciju atbalsts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Iestatīšanas vienkāršība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ACID garantijas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Mērogojamība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⭐⭐⭐⭐⭐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Piemērots projektam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⚠️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Kāpēc NE teksta fails:</a:t>
            </a:r>
            <a:r>
              <a:rPr/>
              <a:t> - Nav indeksēšanas - O(n) meklēšana - Nav relāciju - grūti pārvaldīt saites - Datu konsistences problēmas - Fails jāpārraksta pilnībā pēc katras izmaiņas</a:t>
            </a:r>
          </a:p>
          <a:p>
            <a:pPr lvl="0" indent="0" marL="0">
              <a:buNone/>
            </a:pPr>
            <a:r>
              <a:rPr b="1"/>
              <a:t>Kāpēc NE NoSQL:</a:t>
            </a:r>
            <a:r>
              <a:rPr/>
              <a:t> - Bibliotēkas dati ir augsti strukturēti - Skaidras relācijas starp entītijām - Nenepiešama NoSQL priekšrocības (flexible schema, horizontal scaling)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3.3 Datu Persistences Implementācija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Migrācijas (Database Schema)</a:t>
            </a:r>
          </a:p>
          <a:p>
            <a:pPr lvl="0" indent="0" marL="0">
              <a:buNone/>
            </a:pPr>
            <a:r>
              <a:rPr/>
              <a:t>Laravel migrācijas nodrošina version control datubāzes struktūrai: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2026_01_10_170208_create_books_table.php</a:t>
            </a:r>
            <a:br/>
            <a:r>
              <a:rPr>
                <a:latin typeface="Courier"/>
              </a:rPr>
              <a:t>Schema::create(</a:t>
            </a:r>
            <a:r>
              <a:rPr>
                <a:solidFill>
                  <a:srgbClr val="4070A0"/>
                </a:solidFill>
                <a:latin typeface="Courier"/>
              </a:rPr>
              <a:t>'books'</a:t>
            </a:r>
            <a:r>
              <a:rPr>
                <a:solidFill>
                  <a:srgbClr val="007020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(Blueprint </a:t>
            </a:r>
            <a:r>
              <a:rPr>
                <a:solidFill>
                  <a:srgbClr val="19177C"/>
                </a:solidFill>
                <a:latin typeface="Courier"/>
              </a:rPr>
              <a:t>$table</a:t>
            </a:r>
            <a:r>
              <a:rPr>
                <a:latin typeface="Courier"/>
              </a:rPr>
              <a:t>)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$table</a:t>
            </a:r>
            <a:r>
              <a:rPr>
                <a:latin typeface="Courier"/>
              </a:rPr>
              <a:t>-&gt;id()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$table</a:t>
            </a:r>
            <a:r>
              <a:rPr>
                <a:latin typeface="Courier"/>
              </a:rPr>
              <a:t>-&gt;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'title'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$table</a:t>
            </a:r>
            <a:r>
              <a:rPr>
                <a:latin typeface="Courier"/>
              </a:rPr>
              <a:t>-&gt;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'author'</a:t>
            </a:r>
            <a:r>
              <a:rPr>
                <a:latin typeface="Courier"/>
              </a:rPr>
              <a:t>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$table</a:t>
            </a:r>
            <a:r>
              <a:rPr>
                <a:latin typeface="Courier"/>
              </a:rPr>
              <a:t>-&gt;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'isbn'</a:t>
            </a:r>
            <a:r>
              <a:rPr>
                <a:latin typeface="Courier"/>
              </a:rPr>
              <a:t>)-&gt;unique()-&gt;nullable()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$table</a:t>
            </a:r>
            <a:r>
              <a:rPr>
                <a:latin typeface="Courier"/>
              </a:rPr>
              <a:t>-&gt;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'genre'</a:t>
            </a:r>
            <a:r>
              <a:rPr>
                <a:latin typeface="Courier"/>
              </a:rPr>
              <a:t>)-&gt;nullable()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$table</a:t>
            </a:r>
            <a:r>
              <a:rPr>
                <a:latin typeface="Courier"/>
              </a:rPr>
              <a:t>-&gt;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'image'</a:t>
            </a:r>
            <a:r>
              <a:rPr>
                <a:latin typeface="Courier"/>
              </a:rPr>
              <a:t>)-&gt;nullable()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19177C"/>
                </a:solidFill>
                <a:latin typeface="Courier"/>
              </a:rPr>
              <a:t>$table</a:t>
            </a:r>
            <a:r>
              <a:rPr>
                <a:latin typeface="Courier"/>
              </a:rPr>
              <a:t>-&gt;timestamps()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})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Seeders (Testa dati)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DatabaseSeeder.php</a:t>
            </a:r>
            <a:br/>
            <a:r>
              <a:rPr>
                <a:latin typeface="Courier"/>
              </a:rPr>
              <a:t>Book::factory()-&gt;</a:t>
            </a:r>
            <a:r>
              <a:rPr>
                <a:solidFill>
                  <a:srgbClr val="06287E"/>
                </a:solidFill>
                <a:latin typeface="Courier"/>
              </a:rPr>
              <a:t>count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50</a:t>
            </a:r>
            <a:r>
              <a:rPr>
                <a:latin typeface="Courier"/>
              </a:rPr>
              <a:t>)-&gt;create()</a:t>
            </a:r>
            <a:r>
              <a:rPr>
                <a:solidFill>
                  <a:srgbClr val="007020"/>
                </a:solidFill>
                <a:latin typeface="Courier"/>
              </a:rPr>
              <a:t>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Backup un Recovery</a:t>
            </a:r>
          </a:p>
          <a:p>
            <a:pPr lvl="0" indent="-342900" marL="342900">
              <a:buAutoNum type="arabicPeriod"/>
            </a:pPr>
            <a:r>
              <a:rPr b="1"/>
              <a:t>Automātiskā saglabāšana:</a:t>
            </a:r>
          </a:p>
          <a:p>
            <a:pPr lvl="1"/>
            <a:r>
              <a:rPr/>
              <a:t>Katrs Eloquent::save() izpilda SQL INSERT/UPDATE</a:t>
            </a:r>
          </a:p>
          <a:p>
            <a:pPr lvl="1"/>
            <a:r>
              <a:rPr/>
              <a:t>Transakcijas nodrošina datu integritāti</a:t>
            </a:r>
          </a:p>
          <a:p>
            <a:pPr lvl="0" indent="-342900" marL="342900">
              <a:buAutoNum type="arabicPeriod"/>
            </a:pPr>
            <a:r>
              <a:rPr b="1"/>
              <a:t>Manuālā dublēšana: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SQLite backup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cp</a:t>
            </a:r>
            <a:r>
              <a:rPr>
                <a:latin typeface="Courier"/>
              </a:rPr>
              <a:t> database/database.sqlite database/backups/backup_</a:t>
            </a:r>
            <a:r>
              <a:rPr>
                <a:solidFill>
                  <a:srgbClr val="19177C"/>
                </a:solidFill>
                <a:latin typeface="Courier"/>
              </a:rPr>
              <a:t>$(</a:t>
            </a:r>
            <a:r>
              <a:rPr>
                <a:solidFill>
                  <a:srgbClr val="06287E"/>
                </a:solidFill>
                <a:latin typeface="Courier"/>
              </a:rPr>
              <a:t>date</a:t>
            </a:r>
            <a:r>
              <a:rPr>
                <a:latin typeface="Courier"/>
              </a:rPr>
              <a:t> +%Y%m%d</a:t>
            </a:r>
            <a:r>
              <a:rPr>
                <a:solidFill>
                  <a:srgbClr val="19177C"/>
                </a:solidFill>
                <a:latin typeface="Courier"/>
              </a:rPr>
              <a:t>)</a:t>
            </a:r>
            <a:r>
              <a:rPr>
                <a:latin typeface="Courier"/>
              </a:rPr>
              <a:t>.sqlite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MySQL backup</a:t>
            </a:r>
            <a:br/>
            <a:r>
              <a:rPr>
                <a:latin typeface="Courier"/>
              </a:rPr>
              <a:t>mysqldump </a:t>
            </a:r>
            <a:r>
              <a:rPr>
                <a:solidFill>
                  <a:srgbClr val="7D9029"/>
                </a:solidFill>
                <a:latin typeface="Courier"/>
              </a:rPr>
              <a:t>-u</a:t>
            </a:r>
            <a:r>
              <a:rPr>
                <a:latin typeface="Courier"/>
              </a:rPr>
              <a:t> root </a:t>
            </a:r>
            <a:r>
              <a:rPr>
                <a:solidFill>
                  <a:srgbClr val="7D9029"/>
                </a:solidFill>
                <a:latin typeface="Courier"/>
              </a:rPr>
              <a:t>-p</a:t>
            </a:r>
            <a:r>
              <a:rPr>
                <a:latin typeface="Courier"/>
              </a:rPr>
              <a:t> biblioteka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backup.sql</a:t>
            </a:r>
          </a:p>
          <a:p>
            <a:pPr lvl="0" indent="-342900" marL="342900">
              <a:buAutoNum startAt="3" type="arabicPeriod"/>
            </a:pPr>
            <a:r>
              <a:rPr b="1"/>
              <a:t>Atjaunošana: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SQLite restore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cp</a:t>
            </a:r>
            <a:r>
              <a:rPr>
                <a:latin typeface="Courier"/>
              </a:rPr>
              <a:t> database/backups/backup_20260113.sqlite database/database.sqlite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MySQL restore</a:t>
            </a:r>
            <a:br/>
            <a:r>
              <a:rPr>
                <a:latin typeface="Courier"/>
              </a:rPr>
              <a:t>mysql </a:t>
            </a:r>
            <a:r>
              <a:rPr>
                <a:solidFill>
                  <a:srgbClr val="7D9029"/>
                </a:solidFill>
                <a:latin typeface="Courier"/>
              </a:rPr>
              <a:t>-u</a:t>
            </a:r>
            <a:r>
              <a:rPr>
                <a:latin typeface="Courier"/>
              </a:rPr>
              <a:t> root </a:t>
            </a:r>
            <a:r>
              <a:rPr>
                <a:solidFill>
                  <a:srgbClr val="7D9029"/>
                </a:solidFill>
                <a:latin typeface="Courier"/>
              </a:rPr>
              <a:t>-p</a:t>
            </a:r>
            <a:r>
              <a:rPr>
                <a:latin typeface="Courier"/>
              </a:rPr>
              <a:t> biblioteka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backup.sql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Kopsavilkums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Tehnoloģiju steks: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Backend:</a:t>
            </a:r>
            <a:r>
              <a:rPr/>
              <a:t> Laravel 12 (PHP 8.3)</a:t>
            </a:r>
          </a:p>
          <a:p>
            <a:pPr lvl="0"/>
            <a:r>
              <a:rPr b="1"/>
              <a:t>Database:</a:t>
            </a:r>
            <a:r>
              <a:rPr/>
              <a:t> SQLite (development), MySQL ready</a:t>
            </a:r>
          </a:p>
          <a:p>
            <a:pPr lvl="0"/>
            <a:r>
              <a:rPr b="1"/>
              <a:t>ORM:</a:t>
            </a:r>
            <a:r>
              <a:rPr/>
              <a:t> Eloquent</a:t>
            </a:r>
          </a:p>
          <a:p>
            <a:pPr lvl="0"/>
            <a:r>
              <a:rPr b="1"/>
              <a:t>Frontend:</a:t>
            </a:r>
            <a:r>
              <a:rPr/>
              <a:t> Blade templates, Tailwind CSS, Vanilla JavaScript</a:t>
            </a:r>
          </a:p>
          <a:p>
            <a:pPr lvl="0"/>
            <a:r>
              <a:rPr b="1"/>
              <a:t>Architecture:</a:t>
            </a:r>
            <a:r>
              <a:rPr/>
              <a:t> MVC pattern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Galvenās stiprās puses: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✅ Skaidra MVC arhitektūra</a:t>
            </a:r>
          </a:p>
          <a:p>
            <a:pPr lvl="0" indent="-342900" marL="342900">
              <a:buAutoNum type="arabicPeriod"/>
            </a:pPr>
            <a:r>
              <a:rPr/>
              <a:t>✅ Relāciju datubāze ar ACID garantijām</a:t>
            </a:r>
          </a:p>
          <a:p>
            <a:pPr lvl="0" indent="-342900" marL="342900">
              <a:buAutoNum type="arabicPeriod"/>
            </a:pPr>
            <a:r>
              <a:rPr/>
              <a:t>✅ Indeksēta meklēšana (O(log n))</a:t>
            </a:r>
          </a:p>
          <a:p>
            <a:pPr lvl="0" indent="-342900" marL="342900">
              <a:buAutoNum type="arabicPeriod"/>
            </a:pPr>
            <a:r>
              <a:rPr/>
              <a:t>✅ Type-safe Eloquent modeļi</a:t>
            </a:r>
          </a:p>
          <a:p>
            <a:pPr lvl="0" indent="-342900" marL="342900">
              <a:buAutoNum type="arabicPeriod"/>
            </a:pPr>
            <a:r>
              <a:rPr/>
              <a:t>✅ Migrācijas version control</a:t>
            </a:r>
          </a:p>
          <a:p>
            <a:pPr lvl="0" indent="-342900" marL="342900">
              <a:buAutoNum type="arabicPeriod"/>
            </a:pPr>
            <a:r>
              <a:rPr/>
              <a:t>✅ Viegli mērogojama uz production DB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Projekta atbilstība prasībām: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✅ Prasību dokuments definēts</a:t>
            </a:r>
          </a:p>
          <a:p>
            <a:pPr lvl="0"/>
            <a:r>
              <a:rPr/>
              <a:t>✅ ER diagramma izveidota</a:t>
            </a:r>
          </a:p>
          <a:p>
            <a:pPr lvl="0"/>
            <a:r>
              <a:rPr/>
              <a:t>✅ Loģiskais modelis ar detalizētām shēmām</a:t>
            </a:r>
          </a:p>
          <a:p>
            <a:pPr lvl="0"/>
            <a:r>
              <a:rPr/>
              <a:t>✅ Piemērota datu struktūra (Eloquent + SQL)</a:t>
            </a:r>
          </a:p>
          <a:p>
            <a:pPr lvl="0"/>
            <a:r>
              <a:rPr/>
              <a:t>✅ Pilna CRUD funkcionalitāte</a:t>
            </a:r>
          </a:p>
          <a:p>
            <a:pPr lvl="0"/>
            <a:r>
              <a:rPr/>
              <a:t>✅ SQL datubāze ar pamatojumu</a:t>
            </a:r>
          </a:p>
          <a:p>
            <a:pPr lvl="0"/>
            <a:r>
              <a:rPr/>
              <a:t>✅ Persistance implementēta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2026-01-14T05:53:54Z</dcterms:created>
  <dcterms:modified xsi:type="dcterms:W3CDTF">2026-01-14T05:53:54Z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